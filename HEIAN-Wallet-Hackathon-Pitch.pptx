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1645920"/>
            <a:ext cx="5029200" cy="5029200"/>
          </a:xfrm>
          <a:prstGeom prst="ellipse">
            <a:avLst/>
          </a:prstGeom>
          <a:solidFill>
            <a:srgbClr val="5B52F0">
              <a:alpha val="8000"/>
            </a:srgbClr>
          </a:solidFill>
          <a:ln w="12700">
            <a:solidFill>
              <a:srgbClr val="5B52F0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-731520"/>
            <a:ext cx="3200400" cy="3200400"/>
          </a:xfrm>
          <a:prstGeom prst="ellipse">
            <a:avLst/>
          </a:prstGeom>
          <a:solidFill>
            <a:srgbClr val="9B8FFF">
              <a:alpha val="6000"/>
            </a:srgbClr>
          </a:solidFill>
          <a:ln w="12700">
            <a:solidFill>
              <a:srgbClr val="9B8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75488"/>
            <a:ext cx="2194560" cy="292608"/>
          </a:xfrm>
          <a:prstGeom prst="rect">
            <a:avLst/>
          </a:prstGeom>
          <a:solidFill>
            <a:srgbClr val="0D2E18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75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1DB954"/>
                </a:solidFill>
              </a:rPr>
              <a:t>LIVE  —  CHROME WEB STORE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38912" y="960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HEIAN Wallet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438912" y="2148840"/>
            <a:ext cx="320040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2304288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7B7B9E"/>
                </a:solidFill>
              </a:rPr>
              <a:t>The first production-ready wallet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7B7B9E"/>
                </a:solidFill>
              </a:rPr>
              <a:t>built natively for Tempo Blockchain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8912" y="3246120"/>
            <a:ext cx="1920240" cy="27432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3364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B8FFF"/>
                </a:solidFill>
              </a:rPr>
              <a:t>8 Days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38912" y="38404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7B7B9E"/>
                </a:solidFill>
              </a:rPr>
              <a:t>BUILD TIME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60320" y="3246120"/>
            <a:ext cx="1920240" cy="27432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3364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B8FFF"/>
                </a:solidFill>
              </a:rPr>
              <a:t>8,441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560320" y="38404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7B7B9E"/>
                </a:solidFill>
              </a:rPr>
              <a:t>LINES OF CODE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81728" y="3246120"/>
            <a:ext cx="1920240" cy="27432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1728" y="3364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B8FFF"/>
                </a:solidFill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81728" y="38404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7B7B9E"/>
                </a:solidFill>
              </a:rPr>
              <a:t>UI SCREENS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803136" y="3246120"/>
            <a:ext cx="1920240" cy="27432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03136" y="3364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B8FFF"/>
                </a:solidFill>
              </a:rPr>
              <a:t>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803136" y="38404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7B7B9E"/>
                </a:solidFill>
              </a:rPr>
              <a:t>STABLECOINS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4434840"/>
            <a:ext cx="2331720" cy="5029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434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7B9E"/>
                </a:solidFill>
              </a:rPr>
              <a:t>Tempo x Stripe Hackathon  /  March 19,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Why Tempo Needs a Native Wallet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Tempo is building the payment rails of the future.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11480" y="153619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7B7B9E"/>
                </a:solidFill>
              </a:rPr>
              <a:t>Without a dedicated wallet, users cannot access the network.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" y="2057400"/>
            <a:ext cx="2743200" cy="26517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057400"/>
            <a:ext cx="2743200" cy="4572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176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B52F0"/>
                </a:solidFill>
              </a:rPr>
              <a:t>01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0624" y="26974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 Native Wallet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0624" y="3090672"/>
            <a:ext cx="32004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218688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Existing wallets like MetaMask were not built for Tempo. Users face missing features, broken flows, and poor experience.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63824" y="2057400"/>
            <a:ext cx="2743200" cy="26517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63824" y="2057400"/>
            <a:ext cx="2743200" cy="4572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2176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B52F0"/>
                </a:solidFill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328416" y="26974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Payroll Is Broken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28416" y="3090672"/>
            <a:ext cx="32004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28416" y="3218688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Paying a DAO or remote team in stablecoins requires manual work. No bulk payment tool exists natively on Tempo.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71616" y="2057400"/>
            <a:ext cx="2743200" cy="26517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71616" y="2057400"/>
            <a:ext cx="2743200" cy="4572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6208" y="2176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B52F0"/>
                </a:solidFill>
              </a:rPr>
              <a:t>03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236208" y="26974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dApp Fragmentation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36208" y="3090672"/>
            <a:ext cx="32004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36208" y="3218688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Without a proper EIP-6963 Web3 provider for Tempo, dApp integrations are incomplete or entirely non-functional.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THE SOLUTION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HEIAN Wallet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11480" y="1664208"/>
            <a:ext cx="256032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830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B7B9E"/>
                </a:solidFill>
              </a:rPr>
              <a:t>A secure, non-custodial Chrome extension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7B7B9E"/>
                </a:solidFill>
              </a:rPr>
              <a:t>built exclusively for the Tempo Blockchain.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2651760"/>
            <a:ext cx="45720" cy="16459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5420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 Tempo Stablecoins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423160" y="25420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7B9E"/>
                </a:solidFill>
              </a:rPr>
              <a:t>AlphaUSD, BetaUSD, pathUSD, ThetaUSD, KlarnaUSD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035808"/>
            <a:ext cx="45720" cy="16459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9260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Built-in Token Swap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423160" y="29260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7B9E"/>
                </a:solidFill>
              </a:rPr>
              <a:t>No third-party DEX required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3419856"/>
            <a:ext cx="45720" cy="16459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Batch CSV Payments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23160" y="3310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7B9E"/>
                </a:solidFill>
              </a:rPr>
              <a:t>Pay 100+ addresses in a single transaction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803904"/>
            <a:ext cx="45720" cy="16459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941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TIP-20 Memo Support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423160" y="36941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7B9E"/>
                </a:solidFill>
              </a:rPr>
              <a:t>Compliance and invoice tracking built-in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4187952"/>
            <a:ext cx="45720" cy="16459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078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EIP-6963 Web3 Provider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423160" y="40782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7B9E"/>
                </a:solidFill>
              </a:rPr>
              <a:t>Works with all Tempo dApps natively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572000"/>
            <a:ext cx="45720" cy="16459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62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AES-256-GCM Encrypted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423160" y="44622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7B9E"/>
                </a:solidFill>
              </a:rPr>
              <a:t>Non-custodial, fully local key storage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49240" y="960120"/>
            <a:ext cx="1737360" cy="123444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960120"/>
            <a:ext cx="1737360" cy="36576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9240" y="116128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8FFF"/>
                </a:solidFill>
              </a:rPr>
              <a:t>8 Days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49240" y="1764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Build Time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223760" y="960120"/>
            <a:ext cx="1737360" cy="123444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23760" y="960120"/>
            <a:ext cx="1737360" cy="36576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116128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8FFF"/>
                </a:solidFill>
              </a:rPr>
              <a:t>8,441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223760" y="1764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Lines of Code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349240" y="2377440"/>
            <a:ext cx="1737360" cy="1234440"/>
          </a:xfrm>
          <a:prstGeom prst="rect">
            <a:avLst/>
          </a:prstGeom>
          <a:solidFill>
            <a:srgbClr val="0A1F10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2377440"/>
            <a:ext cx="1737360" cy="36576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49240" y="25786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B954"/>
                </a:solidFill>
              </a:rPr>
              <a:t>LIVE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4924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Chrome Web Store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23760" y="2377440"/>
            <a:ext cx="1737360" cy="123444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3760" y="2377440"/>
            <a:ext cx="1737360" cy="36576"/>
          </a:xfrm>
          <a:prstGeom prst="rect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3760" y="25786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8FFF"/>
                </a:solidFill>
              </a:rPr>
              <a:t>v1.0.0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22376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Production Release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212080" y="43434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B7B9E"/>
                </a:solidFill>
              </a:rPr>
              <a:t>chromewebstore.google.com/detail/heian-wallet/bgepdfmijeimlkckojgdgakapabjmdpc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FEATURES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Production-Ready Capabilities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" y="914400"/>
            <a:ext cx="2788920" cy="18745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914400"/>
            <a:ext cx="2788920" cy="36576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78992"/>
            <a:ext cx="777240" cy="219456"/>
          </a:xfrm>
          <a:prstGeom prst="rect">
            <a:avLst/>
          </a:prstGeom>
          <a:solidFill>
            <a:srgbClr val="5B52F0">
              <a:alpha val="20000"/>
            </a:srgbClr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7899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</a:rPr>
              <a:t>PAYROLL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65760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Batch CSV Payments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77393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Upload a CSV and pay 100+ wallets in a single click. Built for DAO payroll, contributor distributions, and team payments.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2788920" cy="18745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45536" y="914400"/>
            <a:ext cx="278892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0128" y="1078992"/>
            <a:ext cx="777240" cy="219456"/>
          </a:xfrm>
          <a:prstGeom prst="rect">
            <a:avLst/>
          </a:prstGeom>
          <a:solidFill>
            <a:srgbClr val="0891B2">
              <a:alpha val="2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0128" y="107899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</a:rPr>
              <a:t>SWAP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310128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Built-in Token Swap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0128" y="177393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Swap between all 5 Tempo stablecoins instantly with configurable slippage. No external protocol required.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14400"/>
            <a:ext cx="2788920" cy="18745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9904" y="914400"/>
            <a:ext cx="27889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54496" y="1078992"/>
            <a:ext cx="777240" cy="219456"/>
          </a:xfrm>
          <a:prstGeom prst="rect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107899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</a:rPr>
              <a:t>WALLET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254496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HD Multi-Account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54496" y="177393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BIP-39/44 standard. One seed phrase manages unlimited accounts with full derivation path support.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01168" y="2926080"/>
            <a:ext cx="2788920" cy="18745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01168" y="2926080"/>
            <a:ext cx="2788920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090672"/>
            <a:ext cx="777240" cy="219456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09067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</a:rPr>
              <a:t>DAPPS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65760" y="3429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dApp Connector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378561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EIP-6963 compliant Web3 provider. Works seamlessly with any Web3 application deployed on Tempo.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45536" y="2926080"/>
            <a:ext cx="2788920" cy="18745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45536" y="2926080"/>
            <a:ext cx="278892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10128" y="3090672"/>
            <a:ext cx="777240" cy="219456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0128" y="309067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</a:rPr>
              <a:t>COMPLIANCE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310128" y="3429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TIP-20 Memo Support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310128" y="378561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Invoice tracking and compliance built-in from day one. Every transaction can carry a reference memo.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89904" y="2926080"/>
            <a:ext cx="2788920" cy="187452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89904" y="2926080"/>
            <a:ext cx="2788920" cy="36576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4496" y="3090672"/>
            <a:ext cx="777240" cy="219456"/>
          </a:xfrm>
          <a:prstGeom prst="rect">
            <a:avLst/>
          </a:prstGeom>
          <a:solidFill>
            <a:srgbClr val="DB2777">
              <a:alpha val="20000"/>
            </a:srgbClr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54496" y="309067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</a:rPr>
              <a:t>UX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254496" y="3429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ENS Resolution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54496" y="378561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Send to .eth names instead of 42-character addresses. Human-readable transactions for every user.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USE CASES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Who Benefits From HEIAN Wallet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Built for every participant in the Tempo ecosystem.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01168" y="1463040"/>
            <a:ext cx="2057400" cy="33375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463040"/>
            <a:ext cx="2057400" cy="4572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627632"/>
            <a:ext cx="1371600" cy="219456"/>
          </a:xfrm>
          <a:prstGeom prst="rect">
            <a:avLst/>
          </a:prstGeom>
          <a:solidFill>
            <a:srgbClr val="5B52F0">
              <a:alpha val="20000"/>
            </a:srgbClr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6276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DAOS + WEB3 TEAMS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347472" y="19933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Treasury &amp; Payroll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7472" y="2377440"/>
            <a:ext cx="27432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2651760"/>
            <a:ext cx="73152" cy="73152"/>
          </a:xfrm>
          <a:prstGeom prst="ellipse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" y="25603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Batch pay contributors via CSV upload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3310128"/>
            <a:ext cx="73152" cy="73152"/>
          </a:xfrm>
          <a:prstGeom prst="ellipse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321868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TIP-20 memo for budget line-item tracking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" y="3968496"/>
            <a:ext cx="73152" cy="73152"/>
          </a:xfrm>
          <a:prstGeom prst="ellipse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3877056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Multi-account for treasury separation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14016" y="1463040"/>
            <a:ext cx="2057400" cy="33375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14016" y="1463040"/>
            <a:ext cx="20574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0" y="1627632"/>
            <a:ext cx="1371600" cy="219456"/>
          </a:xfrm>
          <a:prstGeom prst="rect">
            <a:avLst/>
          </a:prstGeom>
          <a:solidFill>
            <a:srgbClr val="0891B2">
              <a:alpha val="2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16276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REMOTE COMPANIES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2560320" y="19933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Global Payroll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560320" y="2377440"/>
            <a:ext cx="274320" cy="274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0" y="2651760"/>
            <a:ext cx="73152" cy="7315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06624" y="25603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Instant cross-border stablecoin payments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560320" y="3310128"/>
            <a:ext cx="73152" cy="7315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06624" y="321868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Compliance-ready with memo fields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0" y="3968496"/>
            <a:ext cx="73152" cy="7315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06624" y="3877056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CSV export for accounting and audits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26864" y="1463040"/>
            <a:ext cx="2057400" cy="33375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26864" y="1463040"/>
            <a:ext cx="20574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73168" y="1627632"/>
            <a:ext cx="1371600" cy="219456"/>
          </a:xfrm>
          <a:prstGeom prst="rect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73168" y="16276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WEB3 DEVELOPERS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4773168" y="19933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dApp Testing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773168" y="2377440"/>
            <a:ext cx="2743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651760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19472" y="25603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Full EIP-6963 provider on Tempo testnet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9472" y="321868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Open source and extensible codebase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73168" y="3968496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19472" y="3877056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Manifest V3 compliant for modern Chrome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839712" y="1463040"/>
            <a:ext cx="2057400" cy="333756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839712" y="1463040"/>
            <a:ext cx="20574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86016" y="1627632"/>
            <a:ext cx="1371600" cy="219456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86016" y="16276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END USERS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6986016" y="19933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Everyday Payments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986016" y="2377440"/>
            <a:ext cx="274320" cy="27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986016" y="2651760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0" y="25603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Simple send, receive, and swap UX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986016" y="3310128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32320" y="321868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Non-custodial — keys never leave device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986016" y="3968496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32320" y="3877056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Dark mode, responsive design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TECHNICAL STACK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Architecture &amp; Engineering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Architecture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4572000" cy="566928"/>
          </a:xfrm>
          <a:prstGeom prst="rect">
            <a:avLst/>
          </a:prstGeom>
          <a:solidFill>
            <a:srgbClr val="0D0D26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417320"/>
            <a:ext cx="54864" cy="56692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472184"/>
            <a:ext cx="475488" cy="201168"/>
          </a:xfrm>
          <a:prstGeom prst="rect">
            <a:avLst/>
          </a:prstGeom>
          <a:solidFill>
            <a:srgbClr val="5B52F0">
              <a:alpha val="22000"/>
            </a:srgbClr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47218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</a:rPr>
              <a:t>UI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70432" y="1472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Interface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70432" y="17190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HTML5  /  CSS3  /  JavaScript ES6+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1480" y="2093976"/>
            <a:ext cx="4572000" cy="566928"/>
          </a:xfrm>
          <a:prstGeom prst="rect">
            <a:avLst/>
          </a:prstGeom>
          <a:solidFill>
            <a:srgbClr val="0D0D26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093976"/>
            <a:ext cx="54864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148840"/>
            <a:ext cx="475488" cy="201168"/>
          </a:xfrm>
          <a:prstGeom prst="rect">
            <a:avLst/>
          </a:prstGeom>
          <a:solidFill>
            <a:srgbClr val="0891B2">
              <a:alpha val="22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1488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</a:rPr>
              <a:t>CHAIN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70432" y="21488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Blockchain Layer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70432" y="23957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ethers.js v6  /  Tempo EVM RPC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770632"/>
            <a:ext cx="4572000" cy="566928"/>
          </a:xfrm>
          <a:prstGeom prst="rect">
            <a:avLst/>
          </a:prstGeom>
          <a:solidFill>
            <a:srgbClr val="0D0D26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2770632"/>
            <a:ext cx="54864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2825496"/>
            <a:ext cx="475488" cy="201168"/>
          </a:xfrm>
          <a:prstGeom prst="rect">
            <a:avLst/>
          </a:prstGeom>
          <a:solidFill>
            <a:srgbClr val="7C3AED">
              <a:alpha val="22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2825496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</a:rPr>
              <a:t>CRYPTO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70432" y="28254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Cryptography Layer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70432" y="30723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BIP-39 Mnemonics  /  BIP-44 HD Paths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47288"/>
            <a:ext cx="4572000" cy="566928"/>
          </a:xfrm>
          <a:prstGeom prst="rect">
            <a:avLst/>
          </a:prstGeom>
          <a:solidFill>
            <a:srgbClr val="0D0D26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47288"/>
            <a:ext cx="54864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502152"/>
            <a:ext cx="475488" cy="201168"/>
          </a:xfrm>
          <a:prstGeom prst="rect">
            <a:avLst/>
          </a:prstGeom>
          <a:solidFill>
            <a:srgbClr val="059669">
              <a:alpha val="22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50215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</a:rPr>
              <a:t>STORE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70432" y="3502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Storage Layer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70432" y="3749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AES-256-GCM  /  Chrome Storage API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4123944"/>
            <a:ext cx="4572000" cy="566928"/>
          </a:xfrm>
          <a:prstGeom prst="rect">
            <a:avLst/>
          </a:prstGeom>
          <a:solidFill>
            <a:srgbClr val="0D0D2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1480" y="4123944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" y="4178808"/>
            <a:ext cx="475488" cy="201168"/>
          </a:xfrm>
          <a:prstGeom prst="rect">
            <a:avLst/>
          </a:prstGeom>
          <a:solidFill>
            <a:srgbClr val="D97706">
              <a:alpha val="22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4178808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</a:rPr>
              <a:t>EXT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70432" y="41788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Extension Layer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70432" y="44256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Manifest V3  /  Service Worker  /  EIP-6963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77840" y="914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By The Numbers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577840" y="1417320"/>
            <a:ext cx="3291840" cy="749808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77840" y="1417320"/>
            <a:ext cx="54864" cy="74980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15000" y="15087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B8FFF"/>
                </a:solidFill>
              </a:rPr>
              <a:t>8,441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715000" y="18745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Lines of Production Code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77840" y="2286000"/>
            <a:ext cx="3291840" cy="749808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77840" y="2286000"/>
            <a:ext cx="54864" cy="74980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15000" y="23774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B8FFF"/>
                </a:solidFill>
              </a:rPr>
              <a:t>20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5715000" y="2743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Polished UI Screens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77840" y="3154680"/>
            <a:ext cx="3291840" cy="749808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77840" y="3154680"/>
            <a:ext cx="54864" cy="74980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15000" y="32461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B8FFF"/>
                </a:solidFill>
              </a:rPr>
              <a:t>596 KB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5715000" y="36118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Extension Package Size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77840" y="4023360"/>
            <a:ext cx="3291840" cy="749808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0" y="4023360"/>
            <a:ext cx="54864" cy="74980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15000" y="4114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B8FFF"/>
                </a:solidFill>
              </a:rPr>
              <a:t>MV3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5715000" y="448056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B7B9E"/>
                </a:solidFill>
              </a:rPr>
              <a:t>Manifest Version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TRACTION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Shipped, Live, and Growing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" y="914400"/>
            <a:ext cx="4251960" cy="1170432"/>
          </a:xfrm>
          <a:prstGeom prst="rect">
            <a:avLst/>
          </a:prstGeom>
          <a:solidFill>
            <a:srgbClr val="0D0D26"/>
          </a:solidFill>
          <a:ln w="12700">
            <a:solidFill>
              <a:srgbClr val="1DB95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914400"/>
            <a:ext cx="54864" cy="117043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05840"/>
            <a:ext cx="1005840" cy="201168"/>
          </a:xfrm>
          <a:prstGeom prst="rect">
            <a:avLst/>
          </a:prstGeom>
          <a:solidFill>
            <a:srgbClr val="1DB954">
              <a:alpha val="18000"/>
            </a:srgbClr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058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DISTRIBUTION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36576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Live on Chrome Web Store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5819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Google-approved. One-click install. Publicly available to all users worldwide.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75888" y="9875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DB954"/>
                </a:solidFill>
              </a:rPr>
              <a:t>DONE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727448" y="914400"/>
            <a:ext cx="4251960" cy="1170432"/>
          </a:xfrm>
          <a:prstGeom prst="rect">
            <a:avLst/>
          </a:prstGeom>
          <a:solidFill>
            <a:srgbClr val="0D0D26"/>
          </a:solidFill>
          <a:ln w="12700">
            <a:solidFill>
              <a:srgbClr val="1DB95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914400"/>
            <a:ext cx="54864" cy="117043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005840"/>
            <a:ext cx="1005840" cy="201168"/>
          </a:xfrm>
          <a:prstGeom prst="rect">
            <a:avLst/>
          </a:prstGeom>
          <a:solidFill>
            <a:srgbClr val="1DB954">
              <a:alpha val="18000"/>
            </a:srgbClr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0058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OPEN SOURCE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89204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 Repository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15819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Full source code public. Professional README, LICENSE, and CHANGELOG documentation.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02168" y="9875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DB954"/>
                </a:solidFill>
              </a:rPr>
              <a:t>DONE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01168" y="2240280"/>
            <a:ext cx="4251960" cy="1170432"/>
          </a:xfrm>
          <a:prstGeom prst="rect">
            <a:avLst/>
          </a:prstGeom>
          <a:solidFill>
            <a:srgbClr val="0D0D26"/>
          </a:solidFill>
          <a:ln w="12700">
            <a:solidFill>
              <a:srgbClr val="1DB95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2240280"/>
            <a:ext cx="54864" cy="117043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331720"/>
            <a:ext cx="1005840" cy="201168"/>
          </a:xfrm>
          <a:prstGeom prst="rect">
            <a:avLst/>
          </a:prstGeom>
          <a:solidFill>
            <a:srgbClr val="1DB954">
              <a:alpha val="18000"/>
            </a:srgbClr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331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VALIDATED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365760" y="2606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Tested on Tempo Testnet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29077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Real transactions confirmed on multiple dApps. Fully functional on current testnet.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75888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DB954"/>
                </a:solidFill>
              </a:rPr>
              <a:t>DONE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27448" y="2240280"/>
            <a:ext cx="4251960" cy="1170432"/>
          </a:xfrm>
          <a:prstGeom prst="rect">
            <a:avLst/>
          </a:prstGeom>
          <a:solidFill>
            <a:srgbClr val="0D0D26"/>
          </a:solidFill>
          <a:ln w="12700">
            <a:solidFill>
              <a:srgbClr val="1DB95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27448" y="2240280"/>
            <a:ext cx="54864" cy="117043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2040" y="2331720"/>
            <a:ext cx="1005840" cy="201168"/>
          </a:xfrm>
          <a:prstGeom prst="rect">
            <a:avLst/>
          </a:prstGeom>
          <a:solidFill>
            <a:srgbClr val="1DB954">
              <a:alpha val="18000"/>
            </a:srgbClr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331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OUTREACH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892040" y="2606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Direct Tempo Team Contact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29077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Email sent to the Tempo team proposing design partnership for Tempo mainnet launch.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02168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DB954"/>
                </a:solidFill>
              </a:rPr>
              <a:t>DONE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01168" y="3566160"/>
            <a:ext cx="4251960" cy="1170432"/>
          </a:xfrm>
          <a:prstGeom prst="rect">
            <a:avLst/>
          </a:prstGeom>
          <a:solidFill>
            <a:srgbClr val="0D0D26"/>
          </a:solidFill>
          <a:ln w="12700">
            <a:solidFill>
              <a:srgbClr val="1DB95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01168" y="3566160"/>
            <a:ext cx="54864" cy="117043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657600"/>
            <a:ext cx="1005840" cy="201168"/>
          </a:xfrm>
          <a:prstGeom prst="rect">
            <a:avLst/>
          </a:prstGeom>
          <a:solidFill>
            <a:srgbClr val="1DB954">
              <a:alpha val="18000"/>
            </a:srgbClr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6576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WEB PRESENCE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365760" y="3931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Landing Page Deployed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5760" y="4233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Professional product website live via GitHub Pages with Chrome Store CTA.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675888" y="36393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DB954"/>
                </a:solidFill>
              </a:rPr>
              <a:t>DONE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27448" y="3566160"/>
            <a:ext cx="4251960" cy="1170432"/>
          </a:xfrm>
          <a:prstGeom prst="rect">
            <a:avLst/>
          </a:prstGeom>
          <a:solidFill>
            <a:srgbClr val="0D0D26"/>
          </a:solidFill>
          <a:ln w="12700">
            <a:solidFill>
              <a:srgbClr val="1DB95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27448" y="3566160"/>
            <a:ext cx="54864" cy="117043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92040" y="3657600"/>
            <a:ext cx="1005840" cy="201168"/>
          </a:xfrm>
          <a:prstGeom prst="rect">
            <a:avLst/>
          </a:prstGeom>
          <a:solidFill>
            <a:srgbClr val="1DB954">
              <a:alpha val="18000"/>
            </a:srgbClr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36576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</a:rPr>
              <a:t>HACKATHON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4892040" y="3931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Registered for This Event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92040" y="4233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Applied and confirmed for Tempo x Stripe HIIT Hackathon, March 19, 2026.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202168" y="36393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DB954"/>
                </a:solidFill>
              </a:rPr>
              <a:t>DONE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HACKATHON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March 19  /  3 Laps  /  San Francisco + 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Starting with a live product.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40680" y="914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B8FFF"/>
                </a:solidFill>
              </a:rPr>
              <a:t>Building on top.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01168" y="1572768"/>
            <a:ext cx="8741664" cy="969264"/>
          </a:xfrm>
          <a:prstGeom prst="rect">
            <a:avLst/>
          </a:prstGeom>
          <a:solidFill>
            <a:srgbClr val="0D0D26"/>
          </a:solidFill>
          <a:ln w="12700">
            <a:solidFill>
              <a:srgbClr val="5B52F0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1168" y="1572768"/>
            <a:ext cx="1417320" cy="969264"/>
          </a:xfrm>
          <a:prstGeom prst="rect">
            <a:avLst/>
          </a:prstGeom>
          <a:solidFill>
            <a:srgbClr val="5B52F0">
              <a:alpha val="20000"/>
            </a:srgbClr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" y="16824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LAP 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1168" y="20848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B7B9E"/>
                </a:solidFill>
              </a:rPr>
              <a:t>09:30 — 11:30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783080" y="1664208"/>
            <a:ext cx="6995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AI-Powered Payment Routing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783080" y="2029968"/>
            <a:ext cx="6995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Integrate an AI agent that analyzes wallet transaction history and recommends optimal batch groupings, reducing gas overhead and streamlining bulk distributions for DAO payroll.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1168" y="2688336"/>
            <a:ext cx="8741664" cy="969264"/>
          </a:xfrm>
          <a:prstGeom prst="rect">
            <a:avLst/>
          </a:prstGeom>
          <a:solidFill>
            <a:srgbClr val="0D0D26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01168" y="2688336"/>
            <a:ext cx="1417320" cy="969264"/>
          </a:xfrm>
          <a:prstGeom prst="rect">
            <a:avLst/>
          </a:prstGeom>
          <a:solidFill>
            <a:srgbClr val="0891B2">
              <a:alpha val="2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" y="279806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LAP 02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" y="32004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B7B9E"/>
                </a:solidFill>
              </a:rPr>
              <a:t>13:00 — 15:00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783080" y="2779776"/>
            <a:ext cx="6995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Multi-Signature Treasury Module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783080" y="3145536"/>
            <a:ext cx="6995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Implement M-of-N multi-signature approval flows for DAO treasury management. Require threshold approvals before executing high-value transfers — essential for enterprise-grade adoption.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01168" y="3803904"/>
            <a:ext cx="8741664" cy="969264"/>
          </a:xfrm>
          <a:prstGeom prst="rect">
            <a:avLst/>
          </a:prstGeom>
          <a:solidFill>
            <a:srgbClr val="0D0D26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3803904"/>
            <a:ext cx="1417320" cy="969264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" y="39136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LAP 03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01168" y="4315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B7B9E"/>
                </a:solidFill>
              </a:rPr>
              <a:t>16:00 — 17:00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783080" y="3895344"/>
            <a:ext cx="6995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Final Polish and Live Demo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783080" y="4261104"/>
            <a:ext cx="6995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End-to-end demonstration of all features on Tempo testnet. Record final demo video, complete pitch slides, and prepare live walkthrough for judges.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B8FFF"/>
                </a:solidFill>
              </a:rPr>
              <a:t>WHY 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0" y="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7B9E"/>
                </a:solidFill>
              </a:rPr>
              <a:t>The Competitive Advantage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Most teams start from scratch.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7B9E"/>
                </a:solidFill>
              </a:rPr>
              <a:t>We arrive with a Google-approved, production application already in users' hands.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1168" y="1920240"/>
            <a:ext cx="3200400" cy="38404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92024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</a:rPr>
              <a:t>CAPABILITY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01568" y="1920240"/>
            <a:ext cx="2651760" cy="38404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1920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</a:rPr>
              <a:t>OTHER TEAMS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53328" y="1920240"/>
            <a:ext cx="2880360" cy="384048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3056" y="1920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</a:rPr>
              <a:t>HEIAN WALLET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" y="2395728"/>
            <a:ext cx="3200400" cy="4572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" y="23957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Working product today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01568" y="2395728"/>
            <a:ext cx="2651760" cy="4572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2395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Building from scratch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53328" y="2395728"/>
            <a:ext cx="2880360" cy="457200"/>
          </a:xfrm>
          <a:prstGeom prst="rect">
            <a:avLst/>
          </a:prstGeom>
          <a:solidFill>
            <a:srgbClr val="0A1F10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B954"/>
                </a:solidFill>
              </a:rPr>
              <a:t>Live on Chrome Web Store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01168" y="2907792"/>
            <a:ext cx="3200400" cy="45720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" y="29077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Tempo blockchain tested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01568" y="2907792"/>
            <a:ext cx="2651760" cy="45720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29077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Starting integration now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53328" y="2907792"/>
            <a:ext cx="2880360" cy="457200"/>
          </a:xfrm>
          <a:prstGeom prst="rect">
            <a:avLst/>
          </a:prstGeom>
          <a:solidFill>
            <a:srgbClr val="0A1F10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29077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B954"/>
                </a:solidFill>
              </a:rPr>
              <a:t>Confirmed working on testnet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01168" y="3419856"/>
            <a:ext cx="3200400" cy="4572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" y="341985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Google security approval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01568" y="3419856"/>
            <a:ext cx="2651760" cy="4572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11296" y="34198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Not yet reviewed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53328" y="3419856"/>
            <a:ext cx="2880360" cy="457200"/>
          </a:xfrm>
          <a:prstGeom prst="rect">
            <a:avLst/>
          </a:prstGeom>
          <a:solidFill>
            <a:srgbClr val="0A1F10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34198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B954"/>
                </a:solidFill>
              </a:rPr>
              <a:t>Passed Chrome security review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01168" y="3931920"/>
            <a:ext cx="3200400" cy="45720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0896" y="3931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Open source codebase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401568" y="3931920"/>
            <a:ext cx="2651760" cy="457200"/>
          </a:xfrm>
          <a:prstGeom prst="rect">
            <a:avLst/>
          </a:prstGeom>
          <a:solidFill>
            <a:srgbClr val="131330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11296" y="3931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Undecided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53328" y="3931920"/>
            <a:ext cx="2880360" cy="457200"/>
          </a:xfrm>
          <a:prstGeom prst="rect">
            <a:avLst/>
          </a:prstGeom>
          <a:solidFill>
            <a:srgbClr val="0A1F10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63056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B954"/>
                </a:solidFill>
              </a:rPr>
              <a:t>Full repo, docs, and LICENSE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01168" y="4443984"/>
            <a:ext cx="3200400" cy="4572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" y="444398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Real user demo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01568" y="4443984"/>
            <a:ext cx="2651760" cy="4572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11296" y="444398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B7B9E"/>
                </a:solidFill>
              </a:rPr>
              <a:t>Mockups only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53328" y="4443984"/>
            <a:ext cx="2880360" cy="457200"/>
          </a:xfrm>
          <a:prstGeom prst="rect">
            <a:avLst/>
          </a:prstGeom>
          <a:solidFill>
            <a:srgbClr val="0A1F10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63056" y="44439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DB954"/>
                </a:solidFill>
              </a:rPr>
              <a:t>Real app, real users, real feedback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7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2560320"/>
            <a:ext cx="6400800" cy="6400800"/>
          </a:xfrm>
          <a:prstGeom prst="ellipse">
            <a:avLst/>
          </a:prstGeom>
          <a:solidFill>
            <a:srgbClr val="5B52F0">
              <a:alpha val="8000"/>
            </a:srgbClr>
          </a:solidFill>
          <a:ln w="12700">
            <a:solidFill>
              <a:srgbClr val="5B52F0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1828800"/>
            <a:ext cx="5029200" cy="5029200"/>
          </a:xfrm>
          <a:prstGeom prst="ellipse">
            <a:avLst/>
          </a:prstGeom>
          <a:solidFill>
            <a:srgbClr val="9B8FFF">
              <a:alpha val="7000"/>
            </a:srgbClr>
          </a:solidFill>
          <a:ln w="12700">
            <a:solidFill>
              <a:srgbClr val="9B8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0080"/>
            <a:ext cx="8321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HEIAN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9B8FFF"/>
                </a:solidFill>
              </a:rPr>
              <a:t>WALLET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3200400" y="2724912"/>
            <a:ext cx="2743200" cy="27432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8529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7B9E"/>
                </a:solidFill>
              </a:rPr>
              <a:t>Built for Tempo.  Live today.  Ready for mainnet.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3429000"/>
            <a:ext cx="2377440" cy="9144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3429000"/>
            <a:ext cx="2377440" cy="36576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5204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7B7B9E"/>
                </a:solidFill>
              </a:rPr>
              <a:t>CHROME WEB STORE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32688" y="381304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Install Free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429000"/>
            <a:ext cx="2377440" cy="9144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83280" y="3429000"/>
            <a:ext cx="2377440" cy="36576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11296" y="35204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7B7B9E"/>
                </a:solidFill>
              </a:rPr>
              <a:t>GITHUB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511296" y="381304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DE-LIGHTPRO / heian-wallet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1888" y="3429000"/>
            <a:ext cx="2377440" cy="914400"/>
          </a:xfrm>
          <a:prstGeom prst="rect">
            <a:avLst/>
          </a:prstGeom>
          <a:solidFill>
            <a:srgbClr val="0D0D26"/>
          </a:solidFill>
          <a:ln w="12700">
            <a:solidFill>
              <a:srgbClr val="22224A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61888" y="3429000"/>
            <a:ext cx="2377440" cy="36576"/>
          </a:xfrm>
          <a:prstGeom prst="rect">
            <a:avLst/>
          </a:prstGeom>
          <a:solidFill>
            <a:srgbClr val="5B52F0"/>
          </a:solidFill>
          <a:ln w="12700">
            <a:solidFill>
              <a:srgbClr val="5B5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35204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7B7B9E"/>
                </a:solidFill>
              </a:rPr>
              <a:t>CONTACT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089904" y="381304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heianwallet@gmail.com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HEIAN Wallet — Tempo Hackathon 2026</dc:title>
  <dc:subject>PptxGenJS Presentation</dc:subject>
  <dc:creator>PptxGenJS</dc:creator>
  <cp:lastModifiedBy>PptxGenJS</cp:lastModifiedBy>
  <cp:revision>1</cp:revision>
  <dcterms:created xsi:type="dcterms:W3CDTF">2026-03-08T17:05:27Z</dcterms:created>
  <dcterms:modified xsi:type="dcterms:W3CDTF">2026-03-08T17:05:27Z</dcterms:modified>
</cp:coreProperties>
</file>